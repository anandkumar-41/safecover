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28" r:id="rId1"/>
  </p:sldMasterIdLst>
  <p:sldIdLst>
    <p:sldId id="268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-691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1" y="0"/>
            <a:ext cx="12191999" cy="513543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3355848"/>
            <a:ext cx="10769600" cy="1673352"/>
          </a:xfrm>
        </p:spPr>
        <p:txBody>
          <a:bodyPr vert="horz" lIns="91440" tIns="0" rIns="45720" bIns="0" rtlCol="0" anchor="t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1828800"/>
            <a:ext cx="10769600" cy="1499616"/>
          </a:xfrm>
        </p:spPr>
        <p:txBody>
          <a:bodyPr lIns="118872" tIns="0" rIns="45720" bIns="0" anchor="b"/>
          <a:lstStyle>
            <a:lvl1pPr marL="0" indent="0" algn="l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0" y="5128334"/>
            <a:ext cx="12192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5448"/>
            <a:ext cx="10972800" cy="1252728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1"/>
            <a:ext cx="12192000" cy="260252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0" y="2602520"/>
            <a:ext cx="12192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9744" y="118872"/>
            <a:ext cx="10684256" cy="1636776"/>
          </a:xfrm>
        </p:spPr>
        <p:txBody>
          <a:bodyPr vert="horz" lIns="91440" tIns="0" rIns="91440" bIns="0" rtlCol="0" anchor="b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7552" y="1828800"/>
            <a:ext cx="10696448" cy="685800"/>
          </a:xfrm>
        </p:spPr>
        <p:txBody>
          <a:bodyPr lIns="146304" tIns="0" rIns="45720" bIns="0" anchor="t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773936"/>
            <a:ext cx="5384800" cy="4623816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73936"/>
            <a:ext cx="5384800" cy="46238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98988"/>
            <a:ext cx="5386917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449512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698988"/>
            <a:ext cx="5389033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449512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784" y="152400"/>
            <a:ext cx="3364992" cy="978408"/>
          </a:xfrm>
        </p:spPr>
        <p:txBody>
          <a:bodyPr vert="horz" lIns="73152" rIns="45720" bIns="0" rtlCol="0" anchor="b">
            <a:normAutofit/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5837" y="1743134"/>
            <a:ext cx="7894188" cy="45588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784" y="1730018"/>
            <a:ext cx="329184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3807649" y="0"/>
            <a:ext cx="6096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3807649" y="0"/>
            <a:ext cx="6096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" y="155448"/>
            <a:ext cx="3366867" cy="978408"/>
          </a:xfrm>
        </p:spPr>
        <p:txBody>
          <a:bodyPr lIns="73152" bIns="0" anchor="b"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71741" y="1484808"/>
            <a:ext cx="8329863" cy="5373192"/>
          </a:xfrm>
          <a:solidFill>
            <a:schemeClr val="bg2">
              <a:shade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9456" y="1728216"/>
            <a:ext cx="329184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19456" y="1170432"/>
            <a:ext cx="3364992" cy="201168"/>
          </a:xfrm>
        </p:spPr>
        <p:txBody>
          <a:bodyPr/>
          <a:lstStyle/>
          <a:p>
            <a:fld id="{5BCAD085-E8A6-8845-BD4E-CB4CCA059FC4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3807649" y="0"/>
            <a:ext cx="6096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3807649" y="0"/>
            <a:ext cx="6096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47744" y="1170432"/>
            <a:ext cx="6925056" cy="201168"/>
          </a:xfrm>
        </p:spPr>
        <p:txBody>
          <a:bodyPr/>
          <a:lstStyle>
            <a:lvl1pPr>
              <a:defRPr>
                <a:solidFill>
                  <a:schemeClr val="bg1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119104" y="1170432"/>
            <a:ext cx="978485" cy="201168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invGray">
          <a:xfrm>
            <a:off x="8798560" y="0"/>
            <a:ext cx="6096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108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 bwMode="ltGray">
          <a:xfrm>
            <a:off x="8863584" y="0"/>
            <a:ext cx="3352801" cy="685800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274641"/>
            <a:ext cx="25400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304801"/>
            <a:ext cx="80264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520796" y="6377460"/>
            <a:ext cx="51152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invGray">
          <a:xfrm>
            <a:off x="0" y="1435895"/>
            <a:ext cx="12192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 bwMode="ltGray">
          <a:xfrm>
            <a:off x="1" y="1"/>
            <a:ext cx="12191999" cy="143373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1251062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775192"/>
            <a:ext cx="10972800" cy="4625609"/>
          </a:xfrm>
          <a:prstGeom prst="rect">
            <a:avLst/>
          </a:prstGeom>
        </p:spPr>
        <p:txBody>
          <a:bodyPr vert="horz" lIns="54864" tIns="91440" rtlCol="0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476999"/>
            <a:ext cx="2844800" cy="274320"/>
          </a:xfrm>
          <a:prstGeom prst="rect">
            <a:avLst/>
          </a:prstGeom>
        </p:spPr>
        <p:txBody>
          <a:bodyPr vert="horz" lIns="109728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5BCAD085-E8A6-8845-BD4E-CB4CCA059FC4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20796" y="6476999"/>
            <a:ext cx="7343625" cy="274320"/>
          </a:xfrm>
          <a:prstGeom prst="rect">
            <a:avLst/>
          </a:prstGeom>
        </p:spPr>
        <p:txBody>
          <a:bodyPr vert="horz" lIns="45720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39195" y="6476999"/>
            <a:ext cx="978485" cy="274320"/>
          </a:xfrm>
          <a:prstGeom prst="rect">
            <a:avLst/>
          </a:prstGeom>
        </p:spPr>
        <p:txBody>
          <a:bodyPr vert="horz" bIns="0" rtlCol="0" anchor="b"/>
          <a:lstStyle>
            <a:lvl1pPr algn="r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xStyles>
    <p:titleStyle>
      <a:lvl1pPr algn="l" rtl="0" eaLnBrk="1" latinLnBrk="0" hangingPunct="1">
        <a:spcBef>
          <a:spcPct val="0"/>
        </a:spcBef>
        <a:buNone/>
        <a:defRPr kumimoji="0" sz="4500" b="1" kern="1200">
          <a:solidFill>
            <a:schemeClr val="accent1">
              <a:satMod val="150000"/>
            </a:schemeClr>
          </a:solidFill>
          <a:effectLst/>
          <a:latin typeface="+mj-lt"/>
          <a:ea typeface="+mj-ea"/>
          <a:cs typeface="+mj-cs"/>
        </a:defRPr>
      </a:lvl1pPr>
      <a:extLst/>
    </p:titleStyle>
    <p:bodyStyle>
      <a:lvl1pPr marL="438912" indent="-320040" algn="l" rtl="0" eaLnBrk="1" latinLnBrk="0" hangingPunct="1">
        <a:spcBef>
          <a:spcPts val="0"/>
        </a:spcBef>
        <a:buClr>
          <a:schemeClr val="accent1"/>
        </a:buClr>
        <a:buSzPct val="80000"/>
        <a:buFont typeface="Wingdings 2"/>
        <a:buChar char="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indent="-27432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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3"/>
        </a:buClr>
        <a:buFont typeface="Arial"/>
        <a:buChar char="▪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16152" indent="-182880" algn="l" rtl="0" eaLnBrk="1" latinLnBrk="0" hangingPunct="1">
        <a:spcBef>
          <a:spcPct val="20000"/>
        </a:spcBef>
        <a:buClr>
          <a:schemeClr val="accent4"/>
        </a:buClr>
        <a:buFont typeface="Arial"/>
        <a:buChar char="▪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26464" indent="-182880" algn="l" rtl="0" eaLnBrk="1" latinLnBrk="0" hangingPunct="1">
        <a:spcBef>
          <a:spcPct val="20000"/>
        </a:spcBef>
        <a:buClr>
          <a:schemeClr val="accent5"/>
        </a:buClr>
        <a:buFont typeface="Wingdings 3"/>
        <a:buChar char=""/>
        <a:defRPr kumimoji="0"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1627632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31136" indent="-18288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atGPT Image Sep 12, 2026, 11_23_32 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" y="0"/>
            <a:ext cx="1218552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2" y="320040"/>
            <a:ext cx="388119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030"/>
                </a:solidFill>
              </a:defRPr>
            </a:pPr>
            <a:r>
              <a:t>1. 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08760"/>
            <a:ext cx="5303520" cy="4114800"/>
          </a:xfrm>
          <a:prstGeom prst="roundRect">
            <a:avLst/>
          </a:prstGeom>
          <a:solidFill>
            <a:srgbClr val="F4F8FA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508760"/>
            <a:ext cx="73152" cy="41148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73353"/>
            <a:ext cx="1683474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030"/>
                </a:solidFill>
              </a:defRPr>
            </a:pPr>
            <a:r>
              <a:t>The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67130"/>
            <a:ext cx="489204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A32"/>
                </a:solidFill>
              </a:defRPr>
            </a:pPr>
            <a:r>
              <a:t>People in low-connectivity areas may need financial protection, but traditional insurance often depends on internet access, paperwork, claim forms and physical inspections.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5257800" cy="4114800"/>
          </a:xfrm>
          <a:prstGeom prst="roundRect">
            <a:avLst/>
          </a:prstGeom>
          <a:solidFill>
            <a:srgbClr val="F4F8FA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508760"/>
            <a:ext cx="73152" cy="411480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673353"/>
            <a:ext cx="2565126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030"/>
                </a:solidFill>
              </a:defRPr>
            </a:pPr>
            <a:r>
              <a:t>What we need to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167130"/>
            <a:ext cx="484632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A32"/>
                </a:solidFill>
              </a:defRPr>
            </a:pPr>
            <a:r>
              <a:t>An insurance system that can work with very limited connectivity, automatically trigger eligible payouts from measurable events, and keep the process simple and understandable.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72654" y="6446520"/>
            <a:ext cx="24878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C78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604684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030"/>
                </a:solidFill>
              </a:defRPr>
            </a:pPr>
            <a:r>
              <a:t>2. Why Current Insurance Can Fail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4"/>
            <a:ext cx="10607040" cy="2323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buFont typeface="Wingdings" pitchFamily="2" charset="2"/>
              <a:buChar char="v"/>
              <a:defRPr sz="1900">
                <a:solidFill>
                  <a:srgbClr val="232A32"/>
                </a:solidFill>
              </a:defRPr>
            </a:pPr>
            <a:r>
              <a:t>Limited internet access makes online claims difficult.</a:t>
            </a:r>
          </a:p>
          <a:p>
            <a:pPr>
              <a:spcAft>
                <a:spcPts val="1500"/>
              </a:spcAft>
              <a:buFont typeface="Wingdings" pitchFamily="2" charset="2"/>
              <a:buChar char="v"/>
              <a:defRPr sz="1900">
                <a:solidFill>
                  <a:srgbClr val="232A32"/>
                </a:solidFill>
              </a:defRPr>
            </a:pPr>
            <a:r>
              <a:t>Manual claim forms and inspections can delay financial support.</a:t>
            </a:r>
          </a:p>
          <a:p>
            <a:pPr>
              <a:spcAft>
                <a:spcPts val="1500"/>
              </a:spcAft>
              <a:buFont typeface="Wingdings" pitchFamily="2" charset="2"/>
              <a:buChar char="v"/>
              <a:defRPr sz="1900">
                <a:solidFill>
                  <a:srgbClr val="232A32"/>
                </a:solidFill>
              </a:defRPr>
            </a:pPr>
            <a:r>
              <a:t>Users may have low digital literacy or limited ability to read long documents.</a:t>
            </a:r>
          </a:p>
          <a:p>
            <a:pPr>
              <a:spcAft>
                <a:spcPts val="1500"/>
              </a:spcAft>
              <a:buFont typeface="Wingdings" pitchFamily="2" charset="2"/>
              <a:buChar char="v"/>
              <a:defRPr sz="1900">
                <a:solidFill>
                  <a:srgbClr val="232A32"/>
                </a:solidFill>
              </a:defRPr>
            </a:pPr>
            <a:r>
              <a:t>Small-value insurance needs a low-cost, low-friction process.</a:t>
            </a:r>
          </a:p>
          <a:p>
            <a:pPr>
              <a:spcAft>
                <a:spcPts val="1500"/>
              </a:spcAft>
              <a:buFont typeface="Wingdings" pitchFamily="2" charset="2"/>
              <a:buChar char="v"/>
              <a:defRPr sz="1900">
                <a:solidFill>
                  <a:srgbClr val="232A32"/>
                </a:solidFill>
              </a:defRPr>
            </a:pPr>
            <a:r>
              <a:t>Fraud prevention is important when payouts happen automatically.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2654" y="6446520"/>
            <a:ext cx="24878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C78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" y="9331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7921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030"/>
                </a:solidFill>
              </a:defRPr>
            </a:pPr>
            <a:r>
              <a:t>3. Proposed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474720" cy="1325880"/>
          </a:xfrm>
          <a:prstGeom prst="roundRect">
            <a:avLst/>
          </a:prstGeom>
          <a:solidFill>
            <a:srgbClr val="F4F8FA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73152" cy="13258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3" y="1581915"/>
            <a:ext cx="1853392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030"/>
                </a:solidFill>
              </a:defRPr>
            </a:pPr>
            <a:r>
              <a:t>1. Simple policy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3" y="2075692"/>
            <a:ext cx="306323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A32"/>
                </a:solidFill>
              </a:defRPr>
            </a:pPr>
            <a:r>
              <a:t>User selects a small, affordable coverage plan.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17320"/>
            <a:ext cx="3474720" cy="1325880"/>
          </a:xfrm>
          <a:prstGeom prst="roundRect">
            <a:avLst/>
          </a:prstGeom>
          <a:solidFill>
            <a:srgbClr val="F4F8FA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43400" y="1417320"/>
            <a:ext cx="73152" cy="13258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4" y="1581915"/>
            <a:ext cx="2039341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030"/>
                </a:solidFill>
              </a:defRPr>
            </a:pPr>
            <a:r>
              <a:t>2. Offline-first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3" y="2075692"/>
            <a:ext cx="3063239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A32"/>
                </a:solidFill>
              </a:defRPr>
            </a:pPr>
            <a:r>
              <a:t>Policy data and actions remain available without continuous internet.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17320"/>
            <a:ext cx="3474720" cy="1325880"/>
          </a:xfrm>
          <a:prstGeom prst="roundRect">
            <a:avLst/>
          </a:prstGeom>
          <a:solidFill>
            <a:srgbClr val="F4F8FA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46720" y="1417320"/>
            <a:ext cx="73152" cy="13258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75323" y="1581915"/>
            <a:ext cx="1745991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030"/>
                </a:solidFill>
              </a:defRPr>
            </a:pPr>
            <a:r>
              <a:t>3. Event trigger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3" y="2075690"/>
            <a:ext cx="3063239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A32"/>
                </a:solidFill>
              </a:defRPr>
            </a:pPr>
            <a:r>
              <a:t>External data confirms whether a predefined event threshold is reached.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14600" y="3154680"/>
            <a:ext cx="3474720" cy="1325880"/>
          </a:xfrm>
          <a:prstGeom prst="roundRect">
            <a:avLst/>
          </a:prstGeom>
          <a:solidFill>
            <a:srgbClr val="F4F8FA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514600" y="3154680"/>
            <a:ext cx="73152" cy="13258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743201" y="3319274"/>
            <a:ext cx="1628972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030"/>
                </a:solidFill>
              </a:defRPr>
            </a:pPr>
            <a:r>
              <a:t>4. Verification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3" y="3813050"/>
            <a:ext cx="3063239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A32"/>
                </a:solidFill>
              </a:defRPr>
            </a:pPr>
            <a:r>
              <a:t>System checks policy validity, event evidence and duplicate/fraud signals.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154680"/>
            <a:ext cx="3474720" cy="1325880"/>
          </a:xfrm>
          <a:prstGeom prst="roundRect">
            <a:avLst/>
          </a:prstGeom>
          <a:solidFill>
            <a:srgbClr val="F4F8FA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17920" y="3154680"/>
            <a:ext cx="73152" cy="132588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46524" y="3319274"/>
            <a:ext cx="2347117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030"/>
                </a:solidFill>
              </a:defRPr>
            </a:pPr>
            <a:r>
              <a:t>5. Automatic payout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3" y="3813050"/>
            <a:ext cx="3063239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A32"/>
                </a:solidFill>
              </a:defRPr>
            </a:pPr>
            <a:r>
              <a:t>Eligible users receive the payout without a conventional claim inspection.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72654" y="6446520"/>
            <a:ext cx="24878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C7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" y="9331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46468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030"/>
                </a:solidFill>
              </a:defRPr>
            </a:pPr>
            <a:r>
              <a:t>4. How the System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3648756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C78"/>
                </a:solidFill>
              </a:defRPr>
            </a:pPr>
            <a:r>
              <a:t>Example: rainfall-triggered micro-insurance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057400"/>
            <a:ext cx="1691640" cy="2148840"/>
          </a:xfrm>
          <a:prstGeom prst="roundRect">
            <a:avLst/>
          </a:prstGeom>
          <a:solidFill>
            <a:srgbClr val="F4F8FA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2057400"/>
            <a:ext cx="73152" cy="2148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2" y="2221995"/>
            <a:ext cx="678391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030"/>
                </a:solidFill>
              </a:defRPr>
            </a:pPr>
            <a:r>
              <a:t>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15770"/>
            <a:ext cx="12801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A32"/>
                </a:solidFill>
              </a:defRPr>
            </a:pPr>
            <a:r>
              <a:t>Buys policy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834643"/>
            <a:ext cx="466794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5F6C78"/>
                </a:solidFill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31720" y="2057400"/>
            <a:ext cx="1691640" cy="2148840"/>
          </a:xfrm>
          <a:prstGeom prst="roundRect">
            <a:avLst/>
          </a:prstGeom>
          <a:solidFill>
            <a:srgbClr val="F4F8FA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331720" y="2057400"/>
            <a:ext cx="73152" cy="2148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2221995"/>
            <a:ext cx="1475084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030"/>
                </a:solidFill>
              </a:defRPr>
            </a:pPr>
            <a:r>
              <a:t>OFFLINE 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715771"/>
            <a:ext cx="128016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A32"/>
                </a:solidFill>
              </a:defRPr>
            </a:pPr>
            <a:r>
              <a:t>Stores policy locally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2834643"/>
            <a:ext cx="466794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5F6C78"/>
                </a:solidFill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2057400"/>
            <a:ext cx="1691640" cy="2148840"/>
          </a:xfrm>
          <a:prstGeom prst="roundRect">
            <a:avLst/>
          </a:prstGeom>
          <a:solidFill>
            <a:srgbClr val="F4F8FA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51960" y="2057400"/>
            <a:ext cx="73152" cy="214884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80560" y="2221995"/>
            <a:ext cx="1446230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030"/>
                </a:solidFill>
              </a:defRPr>
            </a:pPr>
            <a:r>
              <a:t>EVENT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715771"/>
            <a:ext cx="128016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A32"/>
                </a:solidFill>
              </a:defRPr>
            </a:pPr>
            <a:r>
              <a:t>Rainfall / disaster signal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2834643"/>
            <a:ext cx="466794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5F6C78"/>
                </a:solidFill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2057400"/>
            <a:ext cx="1691640" cy="2148840"/>
          </a:xfrm>
          <a:prstGeom prst="roundRect">
            <a:avLst/>
          </a:prstGeom>
          <a:solidFill>
            <a:srgbClr val="F4F8FA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72200" y="2057400"/>
            <a:ext cx="73152" cy="2148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0" y="2221995"/>
            <a:ext cx="1516762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030"/>
                </a:solidFill>
              </a:defRPr>
            </a:pPr>
            <a:r>
              <a:t>RULE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715771"/>
            <a:ext cx="128016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A32"/>
                </a:solidFill>
              </a:defRPr>
            </a:pPr>
            <a:r>
              <a:t>Checks threshold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2834643"/>
            <a:ext cx="466794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5F6C78"/>
                </a:solidFill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2057400"/>
            <a:ext cx="1691640" cy="2148840"/>
          </a:xfrm>
          <a:prstGeom prst="roundRect">
            <a:avLst/>
          </a:prstGeom>
          <a:solidFill>
            <a:srgbClr val="F4F8FA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92440" y="2057400"/>
            <a:ext cx="73152" cy="2148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21042" y="2221995"/>
            <a:ext cx="877163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030"/>
                </a:solidFill>
              </a:defRPr>
            </a:pPr>
            <a:r>
              <a:t>VERIFY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2715769"/>
            <a:ext cx="128016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A32"/>
                </a:solidFill>
              </a:defRPr>
            </a:pPr>
            <a:r>
              <a:t>Policy + event + fraud checks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2834643"/>
            <a:ext cx="466794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5F6C78"/>
                </a:solidFill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12680" y="2057400"/>
            <a:ext cx="1691640" cy="2148840"/>
          </a:xfrm>
          <a:prstGeom prst="roundRect">
            <a:avLst/>
          </a:prstGeom>
          <a:solidFill>
            <a:srgbClr val="F4F8FA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0012680" y="2057400"/>
            <a:ext cx="73152" cy="214884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241282" y="2221995"/>
            <a:ext cx="1016625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030"/>
                </a:solidFill>
              </a:defRPr>
            </a:pPr>
            <a:r>
              <a:t>PAYOUT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2715771"/>
            <a:ext cx="128016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A32"/>
                </a:solidFill>
              </a:defRPr>
            </a:pPr>
            <a:r>
              <a:t>Trigger payment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4800603"/>
            <a:ext cx="8163197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232A32"/>
                </a:solidFill>
              </a:defRPr>
            </a:pPr>
            <a:r>
              <a:rPr b="1" i="1"/>
              <a:t>Example rule: if verified rainfall exceeds the policy threshold for the covered location and </a:t>
            </a:r>
            <a:r>
              <a:rPr b="1" i="1"/>
              <a:t>period</a:t>
            </a:r>
            <a:r>
              <a:rPr b="1" i="1" smtClean="0"/>
              <a:t>,</a:t>
            </a:r>
            <a:endParaRPr lang="en-US" b="1" i="1" dirty="0" smtClean="0"/>
          </a:p>
          <a:p>
            <a:pPr algn="ctr">
              <a:defRPr sz="1500">
                <a:solidFill>
                  <a:srgbClr val="232A32"/>
                </a:solidFill>
              </a:defRPr>
            </a:pPr>
            <a:r>
              <a:rPr b="1" i="1" smtClean="0"/>
              <a:t> </a:t>
            </a:r>
            <a:r>
              <a:rPr b="1" i="1"/>
              <a:t>the system automatically initiates the predefined payout.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72654" y="6446520"/>
            <a:ext cx="24878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C78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" y="9331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2" y="320040"/>
            <a:ext cx="281359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030"/>
                </a:solidFill>
              </a:defRPr>
            </a:pPr>
            <a:r>
              <a:t>5. Key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3200400" cy="1508760"/>
          </a:xfrm>
          <a:prstGeom prst="roundRect">
            <a:avLst/>
          </a:prstGeom>
          <a:solidFill>
            <a:srgbClr val="F4F8FA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73152" cy="15087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2" y="1536195"/>
            <a:ext cx="1301959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030"/>
                </a:solidFill>
              </a:defRPr>
            </a:pPr>
            <a:r>
              <a:t>Offline-first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29970"/>
            <a:ext cx="278892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A32"/>
                </a:solidFill>
              </a:defRPr>
            </a:pPr>
            <a:r>
              <a:t>Core policy view, claim status and queued actions remain usable with intermittent connectivity.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371600"/>
            <a:ext cx="3200400" cy="1508760"/>
          </a:xfrm>
          <a:prstGeom prst="roundRect">
            <a:avLst/>
          </a:prstGeom>
          <a:solidFill>
            <a:srgbClr val="F4F8FA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160520" y="1371600"/>
            <a:ext cx="73152" cy="15087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89122" y="1536195"/>
            <a:ext cx="2177199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030"/>
                </a:solidFill>
              </a:defRPr>
            </a:pPr>
            <a:r>
              <a:t>Parametric triggers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029969"/>
            <a:ext cx="278892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A32"/>
                </a:solidFill>
              </a:defRPr>
            </a:pPr>
            <a:r>
              <a:t>Payout is based on objective measurable conditions rather than lengthy manual claims.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1371600"/>
            <a:ext cx="3200400" cy="1508760"/>
          </a:xfrm>
          <a:prstGeom prst="roundRect">
            <a:avLst/>
          </a:prstGeom>
          <a:solidFill>
            <a:srgbClr val="F4F8FA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680960" y="1371600"/>
            <a:ext cx="73152" cy="15087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09560" y="1536195"/>
            <a:ext cx="1242648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030"/>
                </a:solidFill>
              </a:defRPr>
            </a:pPr>
            <a:r>
              <a:t>Simple UX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2029970"/>
            <a:ext cx="278892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A32"/>
                </a:solidFill>
              </a:defRPr>
            </a:pPr>
            <a:r>
              <a:t>Large actions, local-language support and voice/audio guidance can reduce complexity.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337560"/>
            <a:ext cx="3200400" cy="1508760"/>
          </a:xfrm>
          <a:prstGeom prst="roundRect">
            <a:avLst/>
          </a:prstGeom>
          <a:solidFill>
            <a:srgbClr val="F4F8FA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" y="3337560"/>
            <a:ext cx="73152" cy="15087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3502155"/>
            <a:ext cx="1672253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030"/>
                </a:solidFill>
              </a:defRPr>
            </a:pPr>
            <a:r>
              <a:t>Fraud controls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995932"/>
            <a:ext cx="278892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A32"/>
                </a:solidFill>
              </a:defRPr>
            </a:pPr>
            <a:r>
              <a:t>Validate policy status, event evidence, timestamps and duplicate payout attempts.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60520" y="3337560"/>
            <a:ext cx="3200400" cy="1508760"/>
          </a:xfrm>
          <a:prstGeom prst="roundRect">
            <a:avLst/>
          </a:prstGeom>
          <a:solidFill>
            <a:srgbClr val="F4F8FA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160520" y="3337560"/>
            <a:ext cx="73152" cy="15087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89122" y="3502155"/>
            <a:ext cx="2042547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030"/>
                </a:solidFill>
              </a:defRPr>
            </a:pPr>
            <a:r>
              <a:t>Sync when online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3995930"/>
            <a:ext cx="278892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A32"/>
                </a:solidFill>
              </a:defRPr>
            </a:pPr>
            <a:r>
              <a:t>Queued transactions synchronize securely when a network connection returns.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80960" y="3337560"/>
            <a:ext cx="3200400" cy="1508760"/>
          </a:xfrm>
          <a:prstGeom prst="roundRect">
            <a:avLst/>
          </a:prstGeom>
          <a:solidFill>
            <a:srgbClr val="F4F8FA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680960" y="3337560"/>
            <a:ext cx="73152" cy="15087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909562" y="3502155"/>
            <a:ext cx="2071401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030"/>
                </a:solidFill>
              </a:defRPr>
            </a:pPr>
            <a:r>
              <a:t>Transparent status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9560" y="3995930"/>
            <a:ext cx="278892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A32"/>
                </a:solidFill>
              </a:defRPr>
            </a:pPr>
            <a:r>
              <a:t>Users can see policy, trigger condition, payout status and reason.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72654" y="6446520"/>
            <a:ext cx="24878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C78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2" y="320040"/>
            <a:ext cx="442140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030"/>
                </a:solidFill>
              </a:defRPr>
            </a:pPr>
            <a:r>
              <a:t>7. Example User Journey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1234440"/>
            <a:ext cx="457200" cy="45720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32688" y="1307595"/>
            <a:ext cx="29848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2" y="1216152"/>
            <a:ext cx="356777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32A32"/>
                </a:solidFill>
              </a:defRPr>
            </a:pPr>
            <a:r>
              <a:rPr smtClean="0"/>
              <a:t>Ravi</a:t>
            </a:r>
            <a:r>
              <a:rPr lang="en-US" dirty="0" smtClean="0"/>
              <a:t> </a:t>
            </a:r>
            <a:r>
              <a:rPr smtClean="0"/>
              <a:t> </a:t>
            </a:r>
            <a:r>
              <a:t>selects a ₹50 micro-insurance plan.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011680"/>
            <a:ext cx="457200" cy="45720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9" y="2084835"/>
            <a:ext cx="27443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2" y="1993392"/>
            <a:ext cx="523091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32A32"/>
                </a:solidFill>
              </a:defRPr>
            </a:pPr>
            <a:r>
              <a:t>The policy is saved on the phone for offline access.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788920"/>
            <a:ext cx="457200" cy="45720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2862075"/>
            <a:ext cx="30489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770632"/>
            <a:ext cx="598272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32A32"/>
                </a:solidFill>
              </a:defRPr>
            </a:pPr>
            <a:r>
              <a:t>A covered rainfall threshold is reached in the insured area.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566160"/>
            <a:ext cx="457200" cy="45720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9" y="3639312"/>
            <a:ext cx="29206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547872"/>
            <a:ext cx="774763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32A32"/>
                </a:solidFill>
              </a:defRPr>
            </a:pPr>
            <a:r>
              <a:t>When connectivity is available, event evidence is synchronized and verified.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4343400"/>
            <a:ext cx="457200" cy="45720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9" y="4416555"/>
            <a:ext cx="26481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2" y="4325112"/>
            <a:ext cx="651171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32A32"/>
                </a:solidFill>
              </a:defRPr>
            </a:pPr>
            <a:r>
              <a:t>The policy rule is satisfied and the predefined payout is initiated.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5120640"/>
            <a:ext cx="457200" cy="45720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2689" y="5193795"/>
            <a:ext cx="25840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5102352"/>
            <a:ext cx="695254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32A32"/>
                </a:solidFill>
              </a:defRPr>
            </a:pPr>
            <a:r>
              <a:t>Ravi receives a simple confirmation and can view the payout status.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72654" y="6446520"/>
            <a:ext cx="24878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C78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2" y="320040"/>
            <a:ext cx="527420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030"/>
                </a:solidFill>
              </a:defRPr>
            </a:pPr>
            <a:r>
              <a:t>8. Innovation &amp; Social Impact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429000" cy="4160520"/>
          </a:xfrm>
          <a:prstGeom prst="roundRect">
            <a:avLst/>
          </a:prstGeom>
          <a:solidFill>
            <a:srgbClr val="F4F8FA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73152" cy="41605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81915"/>
            <a:ext cx="1303562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030"/>
                </a:solidFill>
              </a:defRPr>
            </a:pPr>
            <a:r>
              <a:t>Innovation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75691"/>
            <a:ext cx="301752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A32"/>
                </a:solidFill>
              </a:defRPr>
            </a:pPr>
            <a:r>
              <a:t>Combines parametric insurance with offline-first design, automated rules and resilient synchronization.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429000" cy="4160520"/>
          </a:xfrm>
          <a:prstGeom prst="roundRect">
            <a:avLst/>
          </a:prstGeom>
          <a:solidFill>
            <a:srgbClr val="F4F8FA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0" y="1417320"/>
            <a:ext cx="73152" cy="41605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22" y="1581915"/>
            <a:ext cx="1640193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030"/>
                </a:solidFill>
              </a:defRPr>
            </a:pPr>
            <a:r>
              <a:t>Social impact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075689"/>
            <a:ext cx="3017520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A32"/>
                </a:solidFill>
              </a:defRPr>
            </a:pPr>
            <a:r>
              <a:t>Can improve access to rapid financial protection for users who face unreliable connectivity and limited access to conventional insurance processes.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417320"/>
            <a:ext cx="3429000" cy="4160520"/>
          </a:xfrm>
          <a:prstGeom prst="roundRect">
            <a:avLst/>
          </a:prstGeom>
          <a:solidFill>
            <a:srgbClr val="F4F8FA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92440" y="1417320"/>
            <a:ext cx="73152" cy="416052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1040" y="1581915"/>
            <a:ext cx="1274708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030"/>
                </a:solidFill>
              </a:defRPr>
            </a:pPr>
            <a:r>
              <a:t>Scalability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075690"/>
            <a:ext cx="301752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A32"/>
                </a:solidFill>
              </a:defRPr>
            </a:pPr>
            <a:r>
              <a:t>The same framework can support rainfall, flood, heat, crop, travel or other measurable event-based insurance products.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72654" y="6446520"/>
            <a:ext cx="24878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C78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2" y="320040"/>
            <a:ext cx="338586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030"/>
                </a:solidFill>
              </a:defRPr>
            </a:pPr>
            <a:r>
              <a:t>9. Hackathon MVP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07040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buFont typeface="Wingdings" pitchFamily="2" charset="2"/>
              <a:buChar char="v"/>
              <a:defRPr sz="1700">
                <a:solidFill>
                  <a:srgbClr val="232A32"/>
                </a:solidFill>
              </a:defRPr>
            </a:pPr>
            <a:r>
              <a:t>User registration + simple policy selection</a:t>
            </a:r>
          </a:p>
          <a:p>
            <a:pPr>
              <a:spcAft>
                <a:spcPts val="1500"/>
              </a:spcAft>
              <a:buFont typeface="Wingdings" pitchFamily="2" charset="2"/>
              <a:buChar char="v"/>
              <a:defRPr sz="1700">
                <a:solidFill>
                  <a:srgbClr val="232A32"/>
                </a:solidFill>
              </a:defRPr>
            </a:pPr>
            <a:r>
              <a:t>Offline policy storage and offline status screen</a:t>
            </a:r>
          </a:p>
          <a:p>
            <a:pPr>
              <a:spcAft>
                <a:spcPts val="1500"/>
              </a:spcAft>
              <a:buFont typeface="Wingdings" pitchFamily="2" charset="2"/>
              <a:buChar char="v"/>
              <a:defRPr sz="1700">
                <a:solidFill>
                  <a:srgbClr val="232A32"/>
                </a:solidFill>
              </a:defRPr>
            </a:pPr>
            <a:r>
              <a:t>Parametric rule engine with simulated event data</a:t>
            </a:r>
          </a:p>
          <a:p>
            <a:pPr>
              <a:spcAft>
                <a:spcPts val="1500"/>
              </a:spcAft>
              <a:buFont typeface="Wingdings" pitchFamily="2" charset="2"/>
              <a:buChar char="v"/>
              <a:defRPr sz="1700">
                <a:solidFill>
                  <a:srgbClr val="232A32"/>
                </a:solidFill>
              </a:defRPr>
            </a:pPr>
            <a:r>
              <a:t>Event verification and basic fraud/duplicate checks</a:t>
            </a:r>
          </a:p>
          <a:p>
            <a:pPr>
              <a:spcAft>
                <a:spcPts val="1500"/>
              </a:spcAft>
              <a:buFont typeface="Wingdings" pitchFamily="2" charset="2"/>
              <a:buChar char="v"/>
              <a:defRPr sz="1700">
                <a:solidFill>
                  <a:srgbClr val="232A32"/>
                </a:solidFill>
              </a:defRPr>
            </a:pPr>
            <a:r>
              <a:t>Automatic payout simulation with transaction history</a:t>
            </a:r>
          </a:p>
          <a:p>
            <a:pPr>
              <a:spcAft>
                <a:spcPts val="1500"/>
              </a:spcAft>
              <a:buFont typeface="Wingdings" pitchFamily="2" charset="2"/>
              <a:buChar char="v"/>
              <a:defRPr sz="1700">
                <a:solidFill>
                  <a:srgbClr val="232A32"/>
                </a:solidFill>
              </a:defRPr>
            </a:pPr>
            <a:r>
              <a:t>Simple dashboard for insurer/admin monitoring</a:t>
            </a:r>
          </a:p>
          <a:p>
            <a:pPr>
              <a:spcAft>
                <a:spcPts val="1500"/>
              </a:spcAft>
              <a:buFont typeface="Wingdings" pitchFamily="2" charset="2"/>
              <a:buChar char="v"/>
              <a:defRPr sz="1700">
                <a:solidFill>
                  <a:srgbClr val="232A32"/>
                </a:solidFill>
              </a:defRPr>
            </a:pPr>
            <a:r>
              <a:t>Optional: local-language and voice-guided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8534" y="6446520"/>
            <a:ext cx="31290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C78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" y="0"/>
            <a:ext cx="12191695" cy="6858000"/>
          </a:xfrm>
          <a:prstGeom prst="rect">
            <a:avLst/>
          </a:prstGeom>
          <a:solidFill>
            <a:srgbClr val="14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2" y="1234440"/>
            <a:ext cx="274947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40280"/>
            <a:ext cx="12021240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87E2D8"/>
                </a:solidFill>
              </a:defRPr>
            </a:pPr>
            <a:r>
              <a:t>Protecting people should not depend on having a perfect internet connection.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Offline-first • Parametric • Inclusive • Fast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8534" y="6446520"/>
            <a:ext cx="31290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C78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ule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odu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</TotalTime>
  <Words>576</Words>
  <Application>Microsoft Macintosh PowerPoint</Application>
  <PresentationFormat>Custom</PresentationFormat>
  <Paragraphs>96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Module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Asha</dc:creator>
  <dc:description>generated using python-pptx</dc:description>
  <cp:lastModifiedBy>Asha</cp:lastModifiedBy>
  <cp:revision>6</cp:revision>
  <dcterms:created xsi:type="dcterms:W3CDTF">2013-01-27T09:14:16Z</dcterms:created>
  <dcterms:modified xsi:type="dcterms:W3CDTF">2026-09-12T06:14:33Z</dcterms:modified>
</cp:coreProperties>
</file>